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Azure VM to AKS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EECF9"/>
                </a:solidFill>
                <a:latin typeface="Calibri"/>
              </a:defRPr>
            </a:pPr>
            <a:r>
              <a:t>3-Tier Application Containerization &amp; Cloud-Native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Calibri"/>
              </a:defRPr>
            </a:pPr>
            <a:r>
              <a:t>Management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DD"/>
                </a:solidFill>
                <a:latin typeface="Calibri"/>
              </a:defRPr>
            </a:pPr>
            <a:r>
              <a:t>Apache2 (Web)  |  Open Liberty (App)  |  PostgreSQL (Database)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From Virtual Machines to Kubernetes  --  Scalable, Resilient,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1.  </a:t>
            </a:r>
            <a:r>
              <a:rPr sz="1800">
                <a:solidFill>
                  <a:srgbClr val="333333"/>
                </a:solidFill>
                <a:latin typeface="Calibri"/>
              </a:rPr>
              <a:t>Executive Summary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2.  </a:t>
            </a:r>
            <a:r>
              <a:rPr sz="1800">
                <a:solidFill>
                  <a:srgbClr val="333333"/>
                </a:solidFill>
                <a:latin typeface="Calibri"/>
              </a:rPr>
              <a:t>Current Architecture (Azure VMs)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3.  </a:t>
            </a:r>
            <a:r>
              <a:rPr sz="1800">
                <a:solidFill>
                  <a:srgbClr val="333333"/>
                </a:solidFill>
                <a:latin typeface="Calibri"/>
              </a:rPr>
              <a:t>Target Architecture (AKS + Managed Services)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4.  </a:t>
            </a:r>
            <a:r>
              <a:rPr sz="1800">
                <a:solidFill>
                  <a:srgbClr val="333333"/>
                </a:solidFill>
                <a:latin typeface="Calibri"/>
              </a:rPr>
              <a:t>Migration Phases Overview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5.  </a:t>
            </a:r>
            <a:r>
              <a:rPr sz="1800">
                <a:solidFill>
                  <a:srgbClr val="333333"/>
                </a:solidFill>
                <a:latin typeface="Calibri"/>
              </a:rPr>
              <a:t>Phase 1 - Infrastructure Setup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6.  </a:t>
            </a:r>
            <a:r>
              <a:rPr sz="1800">
                <a:solidFill>
                  <a:srgbClr val="333333"/>
                </a:solidFill>
                <a:latin typeface="Calibri"/>
              </a:rPr>
              <a:t>Phase 2 - Data Migration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7.  </a:t>
            </a:r>
            <a:r>
              <a:rPr sz="1800">
                <a:solidFill>
                  <a:srgbClr val="333333"/>
                </a:solidFill>
                <a:latin typeface="Calibri"/>
              </a:rPr>
              <a:t>Phase 3 - Containerization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8.  </a:t>
            </a:r>
            <a:r>
              <a:rPr sz="1800">
                <a:solidFill>
                  <a:srgbClr val="333333"/>
                </a:solidFill>
                <a:latin typeface="Calibri"/>
              </a:rPr>
              <a:t>Kubernetes Configuration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9.  </a:t>
            </a:r>
            <a:r>
              <a:rPr sz="1800">
                <a:solidFill>
                  <a:srgbClr val="333333"/>
                </a:solidFill>
                <a:latin typeface="Calibri"/>
              </a:rPr>
              <a:t>Auto-Scaling &amp; High Availability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10.  </a:t>
            </a:r>
            <a:r>
              <a:rPr sz="1800">
                <a:solidFill>
                  <a:srgbClr val="333333"/>
                </a:solidFill>
                <a:latin typeface="Calibri"/>
              </a:rPr>
              <a:t>Security &amp; Network Policies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11.  </a:t>
            </a:r>
            <a:r>
              <a:rPr sz="1800">
                <a:solidFill>
                  <a:srgbClr val="333333"/>
                </a:solidFill>
                <a:latin typeface="Calibri"/>
              </a:rPr>
              <a:t>Resource Allocation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12.  </a:t>
            </a:r>
            <a:r>
              <a:rPr sz="1800">
                <a:solidFill>
                  <a:srgbClr val="333333"/>
                </a:solidFill>
                <a:latin typeface="Calibri"/>
              </a:rPr>
              <a:t>Key Benefits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13.  </a:t>
            </a:r>
            <a:r>
              <a:rPr sz="1800">
                <a:solidFill>
                  <a:srgbClr val="333333"/>
                </a:solidFill>
                <a:latin typeface="Calibri"/>
              </a:rPr>
              <a:t>Risk Mitigation &amp; Rollback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78D4"/>
                </a:solidFill>
                <a:latin typeface="Calibri"/>
              </a:rPr>
              <a:t>  14.  </a:t>
            </a:r>
            <a:r>
              <a:rPr sz="1800">
                <a:solidFill>
                  <a:srgbClr val="333333"/>
                </a:solidFill>
                <a:latin typeface="Calibri"/>
              </a:rPr>
              <a:t>Timeline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Why migrate to Azure Kubernetes Service?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We are migrating our 3-tier application from Azure Virtual Machines to Azure Kubernetes Service (AKS) to achieve greater scalability, reliability, and operational efficiency while reducing infrastructure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32918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Auto-scaling from 2 to 10 pods (Web)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Auto-scaling from 2 to 8 pods (App)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Scale based on CPU &amp; memory metrics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Handle traffic spikes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606040"/>
            <a:ext cx="329184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Zero-downtime rolling deployments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Self-healing with health probes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Pod anti-affinity across nodes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Automated rollback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06040"/>
            <a:ext cx="3291840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Cost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632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Pay only for resources consumed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Managed PostgreSQL (no DB admin overhead)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Shared AKS cluster infrastructure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Reduced operational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3-Tier Application on Azure Virtual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End Users / Browsers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26060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6032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VM: Apache2</a:t>
            </a:r>
            <a:br/>
            <a:r>
              <a:t>(Web Tier)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Reverse Proxy</a:t>
            </a:r>
            <a:br/>
            <a:r>
              <a:t>Static Content</a:t>
            </a:r>
            <a:br/>
            <a:r>
              <a:t>SSL Termination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09360" y="26060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2560320" cy="18288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VM: Open Liberty</a:t>
            </a:r>
            <a:br/>
            <a:r>
              <a:t>(App Tier)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Java Application Server</a:t>
            </a:r>
            <a:br/>
            <a:r>
              <a:t>Business Logic</a:t>
            </a:r>
            <a:br/>
            <a:r>
              <a:t>REST APIs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35440" y="26060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1828800"/>
            <a:ext cx="2560320" cy="1828800"/>
          </a:xfrm>
          <a:prstGeom prst="round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VM: PostgreSQL</a:t>
            </a:r>
            <a:br/>
            <a:r>
              <a:t>(Database Tier)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6060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Relational Database</a:t>
            </a:r>
            <a:br/>
            <a:r>
              <a:t>Data Persistence</a:t>
            </a:r>
            <a:br/>
            <a:r>
              <a:t>Manual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Calibri"/>
              </a:defRPr>
            </a:pPr>
            <a:r>
              <a:t>Current Challenges: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Manual scaling requires VM provisioning (minutes to hours)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 auto-healing -- manual intervention for failures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Patching and OS updates require planned downtime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Limited resource utilization visibility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High operational overhead for VM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AKS + Azure Managed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463040"/>
            <a:ext cx="7772400" cy="3840480"/>
          </a:xfrm>
          <a:prstGeom prst="round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Calibri"/>
              </a:defRPr>
            </a:pPr>
            <a:r>
              <a:t>Azure Kubernetes Service (AKS)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645920" cy="109728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94560"/>
            <a:ext cx="1828800" cy="13716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NGINX Ingress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EECF9"/>
                </a:solidFill>
                <a:latin typeface="Calibri"/>
              </a:defRPr>
            </a:pPr>
            <a:r>
              <a:t>Load Balancing</a:t>
            </a:r>
            <a:br/>
            <a:r>
              <a:t>TLS Termination</a:t>
            </a:r>
            <a:br/>
            <a:r>
              <a:t>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01168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Apache2 Pods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68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Reverse Proxy</a:t>
            </a:r>
            <a:br/>
            <a:r>
              <a:t>ClusterIP Service</a:t>
            </a:r>
            <a:br/>
            <a:r>
              <a:t>HPA: 2-10 pods</a:t>
            </a:r>
            <a:br/>
            <a:r>
              <a:t>Health Probes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2011680" cy="18288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Open Liberty Pods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468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Java App Server</a:t>
            </a:r>
            <a:br/>
            <a:r>
              <a:t>ClusterIP Service</a:t>
            </a:r>
            <a:br/>
            <a:r>
              <a:t>HPA: 2-8 pods</a:t>
            </a:r>
            <a:br/>
            <a:r>
              <a:t>Health Probes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297680"/>
            <a:ext cx="2286000" cy="1371600"/>
          </a:xfrm>
          <a:prstGeom prst="round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Azure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846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PostgreSQL Flexible</a:t>
            </a:r>
            <a:br/>
            <a:r>
              <a:t>Managed Service</a:t>
            </a:r>
            <a:br/>
            <a:r>
              <a:t>SSL Required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103120" y="3108960"/>
            <a:ext cx="64008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Migration Phases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Structured 4-phase approach for safe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822960" cy="8229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Infrastructure</a:t>
            </a:r>
            <a:br/>
            <a:r>
              <a:t>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Azure Resource Group</a:t>
            </a:r>
            <a:br/>
            <a:r>
              <a:t>Container Registry (ACR)</a:t>
            </a:r>
            <a:br/>
            <a:r>
              <a:t>AKS Cluster (3 nodes)</a:t>
            </a:r>
            <a:br/>
            <a:r>
              <a:t>Managed PostgreSQL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19202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645920"/>
            <a:ext cx="822960" cy="82296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7C1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Data</a:t>
            </a:r>
            <a:br/>
            <a:r>
              <a:t>Migration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pg_dump from source VM</a:t>
            </a:r>
            <a:br/>
            <a:r>
              <a:t>Restore to Azure PostgreSQL</a:t>
            </a:r>
            <a:br/>
            <a:r>
              <a:t>Data validation</a:t>
            </a:r>
            <a:br/>
            <a:r>
              <a:t>Connectivity testing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19202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599" y="1645920"/>
            <a:ext cx="822960" cy="822960"/>
          </a:xfrm>
          <a:prstGeom prst="ellipse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599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730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Containerize</a:t>
            </a:r>
            <a:br/>
            <a:r>
              <a:t>&amp; 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19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Build Docker images</a:t>
            </a:r>
            <a:br/>
            <a:r>
              <a:t>Push to ACR</a:t>
            </a:r>
            <a:br/>
            <a:r>
              <a:t>Deploy K8s manifests</a:t>
            </a:r>
            <a:br/>
            <a:r>
              <a:t>Configure networking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399" y="1920240"/>
            <a:ext cx="274320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66959" y="1645920"/>
            <a:ext cx="822960" cy="822960"/>
          </a:xfrm>
          <a:prstGeom prst="ellipse">
            <a:avLst/>
          </a:prstGeom>
          <a:solidFill>
            <a:srgbClr val="881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9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1B98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5C"/>
                </a:solidFill>
                <a:latin typeface="Calibri"/>
              </a:defRPr>
            </a:pPr>
            <a:r>
              <a:t>Verify &amp;</a:t>
            </a:r>
            <a:br/>
            <a:r>
              <a:t>Optimize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356616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79" y="36576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Health check validation</a:t>
            </a:r>
            <a:br/>
            <a:r>
              <a:t>Performance testing</a:t>
            </a:r>
            <a:br/>
            <a:r>
              <a:t>Monitoring setup</a:t>
            </a:r>
            <a:br/>
            <a:r>
              <a:t>DNS cutover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1: Infrastructure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Azure resource provisioning via automated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01-setup-resource-group.sh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Resource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Creates rg-app-migration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Region: East US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Tags for project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02-setup-acr.sh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Container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Azure Container Registry (ACR)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Standard SKU for image storage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Integrated with 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03-setup-aks.sh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AKS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 nodes (Standard_DS2_v2)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 vCPU, 7 GiB RAM per node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Kubernetes v1.29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Azure CNI networking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Managed identity enabled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Monitoring add-on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04-setup-postgres.sh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783080"/>
            <a:ext cx="2651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82880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Managed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Flexible Server (v16)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Standard_D2ds_v4 SKU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128 GB storage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SSL connections required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Firewall rules for 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2: Data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PostgreSQL data migration from VM to Azure Managed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Calibri"/>
              </a:defRPr>
            </a:pPr>
            <a:r>
              <a:t>Migration Process (07-migrate-data.sh)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1:</a:t>
            </a:r>
            <a:r>
              <a:rPr sz="1500" b="0">
                <a:solidFill>
                  <a:srgbClr val="333333"/>
                </a:solidFill>
                <a:latin typeface="Calibri"/>
              </a:rPr>
              <a:t> Connect to source PostgreSQL VM via SSH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2:</a:t>
            </a:r>
            <a:r>
              <a:rPr sz="1500" b="0">
                <a:solidFill>
                  <a:srgbClr val="333333"/>
                </a:solidFill>
                <a:latin typeface="Calibri"/>
              </a:rPr>
              <a:t> Run pg_dump to export the database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3:</a:t>
            </a:r>
            <a:r>
              <a:rPr sz="1500" b="0">
                <a:solidFill>
                  <a:srgbClr val="333333"/>
                </a:solidFill>
                <a:latin typeface="Calibri"/>
              </a:rPr>
              <a:t> Transfer dump file to local machine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4:</a:t>
            </a:r>
            <a:r>
              <a:rPr sz="1500" b="0">
                <a:solidFill>
                  <a:srgbClr val="333333"/>
                </a:solidFill>
                <a:latin typeface="Calibri"/>
              </a:rPr>
              <a:t> Restore to Azure Database for PostgreSQL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5:</a:t>
            </a:r>
            <a:r>
              <a:rPr sz="1500" b="0">
                <a:solidFill>
                  <a:srgbClr val="333333"/>
                </a:solidFill>
                <a:latin typeface="Calibri"/>
              </a:rPr>
              <a:t> Verify data integrity with row counts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Step 6:</a:t>
            </a:r>
            <a:r>
              <a:rPr sz="1500" b="0">
                <a:solidFill>
                  <a:srgbClr val="333333"/>
                </a:solidFill>
                <a:latin typeface="Calibri"/>
              </a:rPr>
              <a:t> Test application connectivity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49377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Target Database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Server: pg-app-migration.postgres.database.azure.com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Database: appdb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Admin User: pgadmin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PostgreSQL Version: 16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Extensions: PG_TRGM, BTREE_GIST, UUID_OSSP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2336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4069080"/>
            <a:ext cx="49377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Security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SSL/TLS required for all connections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Firewall restricted to AKS outbound IPs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Credentials stored in K8s Secrets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Azure Key Vault integration (recommended)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3: Containerization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Docker images for each application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Apache2 Web Tier (docker/apache2/Dockerfile)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Base Image:</a:t>
            </a:r>
            <a:r>
              <a:rPr sz="1300" b="0">
                <a:solidFill>
                  <a:srgbClr val="333333"/>
                </a:solidFill>
                <a:latin typeface="Calibri"/>
              </a:rPr>
              <a:t> httpd:2.4-alpine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Purpose:</a:t>
            </a:r>
            <a:r>
              <a:rPr sz="1300" b="0">
                <a:solidFill>
                  <a:srgbClr val="333333"/>
                </a:solidFill>
                <a:latin typeface="Calibri"/>
              </a:rPr>
              <a:t> Reverse proxy to Open Liberty backend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Modules:</a:t>
            </a:r>
            <a:r>
              <a:rPr sz="1300" b="0">
                <a:solidFill>
                  <a:srgbClr val="333333"/>
                </a:solidFill>
                <a:latin typeface="Calibri"/>
              </a:rPr>
              <a:t> proxy, proxy_http, proxy_balancer, rewrite, headers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Health Check:</a:t>
            </a:r>
            <a:r>
              <a:rPr sz="1300" b="0">
                <a:solidFill>
                  <a:srgbClr val="333333"/>
                </a:solidFill>
                <a:latin typeface="Calibri"/>
              </a:rPr>
              <a:t> HTTP GET /health every 30s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Port:</a:t>
            </a:r>
            <a:r>
              <a:rPr sz="1300" b="0">
                <a:solidFill>
                  <a:srgbClr val="333333"/>
                </a:solidFill>
                <a:latin typeface="Calibri"/>
              </a:rPr>
              <a:t> 80 (HTTP)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Features: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Custom virtual host configuration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Request logging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Optional static content serving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Optional SSL termination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2120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Open Liberty App Tier (docker/openliberty/Dockerfile)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Base Image:</a:t>
            </a:r>
            <a:r>
              <a:rPr sz="1300" b="0">
                <a:solidFill>
                  <a:srgbClr val="333333"/>
                </a:solidFill>
                <a:latin typeface="Calibri"/>
              </a:rPr>
              <a:t> open-liberty:kernel-slim-java17-openj9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Purpose:</a:t>
            </a:r>
            <a:r>
              <a:rPr sz="1300" b="0">
                <a:solidFill>
                  <a:srgbClr val="333333"/>
                </a:solidFill>
                <a:latin typeface="Calibri"/>
              </a:rPr>
              <a:t> Java application server with business logic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JDBC Driver:</a:t>
            </a:r>
            <a:r>
              <a:rPr sz="1300" b="0">
                <a:solidFill>
                  <a:srgbClr val="333333"/>
                </a:solidFill>
                <a:latin typeface="Calibri"/>
              </a:rPr>
              <a:t> PostgreSQL 42.7.3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Health Check:</a:t>
            </a:r>
            <a:r>
              <a:rPr sz="1300" b="0">
                <a:solidFill>
                  <a:srgbClr val="333333"/>
                </a:solidFill>
                <a:latin typeface="Calibri"/>
              </a:rPr>
              <a:t> HTTP GET /health every 30s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Ports:</a:t>
            </a:r>
            <a:r>
              <a:rPr sz="1300" b="0">
                <a:solidFill>
                  <a:srgbClr val="333333"/>
                </a:solidFill>
                <a:latin typeface="Calibri"/>
              </a:rPr>
              <a:t> 9080 (HTTP), 9443 (HTTPS)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Optimizations: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Shared Class Cache (SCC) for fast startup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JVM tuned for containers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Non-root user (UID 1001)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Feature auto-installation from server.xml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Kubernetes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Deployment manifests and service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3385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64592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Namespace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app-migration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Namespace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Isolated environment for all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replicas, rolling 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Liberty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replicas, rolling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 80 internal routing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Liberty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 9080 internal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app-ingress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NGINX, external HTTP/HTTPS access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HPA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apache-hpa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2-10 pods, CPU 70% / Mem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Liberty HPA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openliberty-hpa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2-8 pods, CPU 60% / Mem 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apache-network-policy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Ingress-only traffic to Apache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 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openliberty-network-policy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Apache-only traffic to Liberty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apache-config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 environment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openliberty-config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 + DB connection 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db-credentials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DB_USER, DB_PASSWORD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Auto-Scaling &amp; 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Horizontal Pod Autoscaler (HPA)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212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Web Tier - Apache2 HPA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Min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2 (always running for HA)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10 (peak traffic capacity)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CPU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70%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Memory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80%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Up:</a:t>
            </a:r>
            <a:r>
              <a:rPr sz="1300" b="0">
                <a:solidFill>
                  <a:srgbClr val="333333"/>
                </a:solidFill>
                <a:latin typeface="Calibri"/>
              </a:rPr>
              <a:t> Add up to 2 pods every 60s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Down:</a:t>
            </a:r>
            <a:r>
              <a:rPr sz="1300" b="0">
                <a:solidFill>
                  <a:srgbClr val="333333"/>
                </a:solidFill>
                <a:latin typeface="Calibri"/>
              </a:rPr>
              <a:t> Remove 1 pod every 120s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(Up):</a:t>
            </a:r>
            <a:r>
              <a:rPr sz="1300" b="0">
                <a:solidFill>
                  <a:srgbClr val="333333"/>
                </a:solidFill>
                <a:latin typeface="Calibri"/>
              </a:rPr>
              <a:t> 60 seconds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(Down):</a:t>
            </a:r>
            <a:r>
              <a:rPr sz="1300" b="0">
                <a:solidFill>
                  <a:srgbClr val="333333"/>
                </a:solidFill>
                <a:latin typeface="Calibri"/>
              </a:rPr>
              <a:t> 300 seconds (5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2120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App Tier - Open Liberty HPA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Min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2 (always running for HA)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Max Replicas:</a:t>
            </a:r>
            <a:r>
              <a:rPr sz="1300" b="0">
                <a:solidFill>
                  <a:srgbClr val="333333"/>
                </a:solidFill>
                <a:latin typeface="Calibri"/>
              </a:rPr>
              <a:t> 8 (peak load capacity)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CPU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60%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Memory Target:</a:t>
            </a:r>
            <a:r>
              <a:rPr sz="1300" b="0">
                <a:solidFill>
                  <a:srgbClr val="333333"/>
                </a:solidFill>
                <a:latin typeface="Calibri"/>
              </a:rPr>
              <a:t> 75% average utilization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Up:</a:t>
            </a:r>
            <a:r>
              <a:rPr sz="1300" b="0">
                <a:solidFill>
                  <a:srgbClr val="333333"/>
                </a:solidFill>
                <a:latin typeface="Calibri"/>
              </a:rPr>
              <a:t> Add up to 2 pods every 120s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Down:</a:t>
            </a:r>
            <a:r>
              <a:rPr sz="1300" b="0">
                <a:solidFill>
                  <a:srgbClr val="333333"/>
                </a:solidFill>
                <a:latin typeface="Calibri"/>
              </a:rPr>
              <a:t> Remove 1 pod every 180s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(Up):</a:t>
            </a:r>
            <a:r>
              <a:rPr sz="1300" b="0">
                <a:solidFill>
                  <a:srgbClr val="333333"/>
                </a:solidFill>
                <a:latin typeface="Calibri"/>
              </a:rPr>
              <a:t> 120 seconds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Stabilization (Down):</a:t>
            </a:r>
            <a:r>
              <a:rPr sz="1300" b="0">
                <a:solidFill>
                  <a:srgbClr val="333333"/>
                </a:solidFill>
                <a:latin typeface="Calibri"/>
              </a:rPr>
              <a:t> 300 seconds (5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High Availability Features: Pod anti-affinity (spread across nodes) | Rolling updates (zero-downtime) | Liveness/Readiness/Startup probes | 30-60s graceful shutdown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&amp; Network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Defense-in-depth approach to application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Network Traffic Flow (Enforced by NetworkPolicy)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Ingress Controller</a:t>
            </a:r>
            <a:r>
              <a:rPr sz="1400" b="0">
                <a:solidFill>
                  <a:srgbClr val="333333"/>
                </a:solidFill>
                <a:latin typeface="Calibri"/>
              </a:rPr>
              <a:t> can send traffic to Apache pods (port 80)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Apache pods</a:t>
            </a:r>
            <a:r>
              <a:rPr sz="1400" b="0">
                <a:solidFill>
                  <a:srgbClr val="333333"/>
                </a:solidFill>
                <a:latin typeface="Calibri"/>
              </a:rPr>
              <a:t> can only reach Open Liberty pods (port 9080)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Open Liberty pods</a:t>
            </a:r>
            <a:r>
              <a:rPr sz="1400" b="0">
                <a:solidFill>
                  <a:srgbClr val="333333"/>
                </a:solidFill>
                <a:latin typeface="Calibri"/>
              </a:rPr>
              <a:t> can only reach PostgreSQL (port 5432) and HTTPS (443)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DNS resolution</a:t>
            </a:r>
            <a:r>
              <a:rPr sz="1400" b="0">
                <a:solidFill>
                  <a:srgbClr val="333333"/>
                </a:solidFill>
                <a:latin typeface="Calibri"/>
              </a:rPr>
              <a:t> allowed for all pods (port 53)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All other traffic</a:t>
            </a:r>
            <a:r>
              <a:rPr sz="1400" b="0">
                <a:solidFill>
                  <a:srgbClr val="333333"/>
                </a:solidFill>
                <a:latin typeface="Calibri"/>
              </a:rPr>
              <a:t> is denied by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49377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Security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Container Security: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Non-root execution (UID 1001)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 privilege escalation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Read-only root filesystem (where possible)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Secrets Management: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K8s Secrets for DB credentials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Azure Key Vault integration (recommended)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No secrets in ConfigMaps or code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Network Security: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SSL/TLS for DB connections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Rate limiting at Ingress (50 req/s)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- Network Policies for tier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Compute and storage sizing for each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338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011680"/>
                <a:gridCol w="2011680"/>
                <a:gridCol w="18288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Request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Limit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 Request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 Limit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Replicas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Apache2 (Web)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128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2 - 10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 Liberty (App)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2000m (2 cores)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512 Mi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Gi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2 - 8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1338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8521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AKS Node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x Standard_DS2_v2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vCPU, 7 GiB RAM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Container Registry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ACR 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Image storage and scanning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Standard_D2ds_v4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vCPU, 8 GiB RAM, 128 GB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Kubernetes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v1.29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CNI networking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CNI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Pod-level IP addressing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Calibri"/>
              </a:defRPr>
            </a:pPr>
            <a:r>
              <a:t>Note: Resource requests guarantee minimum allocation; limits cap maximum usage. HPA will scale pods within min/max range based on actual utilization, optimizing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Business and technical advantages of AKS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64592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Automated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Scale from 2 to 10+ pods in seconds based on demand, eliminating manual VM provisioning that takes minutes to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645920"/>
            <a:ext cx="228600" cy="2286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Zero-Downtime Deployments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Rolling updates ensure continuous availability during releases. Automated rollback if new versions fail health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228600" cy="228600"/>
          </a:xfrm>
          <a:prstGeom prst="ellipse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Self-Healing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Kubernetes automatically restarts failed containers, replaces unhealthy pods, and rebalances workloads across nodes.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1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881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33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Reduced Operational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Managed PostgreSQL eliminates DB admin tasks. AKS handles node patching, scaling, and monitoring.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34840" y="4206240"/>
            <a:ext cx="228600" cy="22860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133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Improved Security Posture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Network policies enforce tier isolation. Non-root containers, Azure Key Vault integration, and SSL everywhere.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0" y="4206240"/>
            <a:ext cx="228600" cy="228600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133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Cost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Pay for actual resource consumption. Efficient bin-packing of pods on nodes. Scale down during low-traffic periods.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Mitigation &amp;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Safety measures and recovery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383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Rolling Update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maxSurge: 1 (add 1 pod before removing old)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maxUnavailable: 0 (never go below desired)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Liveness probes detect stuck pods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Readiness probes manage traffic routing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Startup probes allow slow initialization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30-60s graceful shutdown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3383280" cy="54864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Rollback Procedures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kubectl rollout undo for instant rollback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Rollout history tracks all revisions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Rollback to specific version supported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Database rollback via point-in-time restore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ACR retains previous image versions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 data loss during application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338328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Calibri"/>
              </a:defRPr>
            </a:pPr>
            <a:r>
              <a:t>Health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Liveness:</a:t>
            </a:r>
            <a:r>
              <a:rPr sz="1300" b="0">
                <a:solidFill>
                  <a:srgbClr val="333333"/>
                </a:solidFill>
                <a:latin typeface="Calibri"/>
              </a:rPr>
              <a:t> Restart if /health fails 3x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Readiness:</a:t>
            </a:r>
            <a:r>
              <a:rPr sz="1300" b="0">
                <a:solidFill>
                  <a:srgbClr val="333333"/>
                </a:solidFill>
                <a:latin typeface="Calibri"/>
              </a:rPr>
              <a:t> Remove from service if not ready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Startup:</a:t>
            </a:r>
            <a:r>
              <a:rPr sz="1300" b="0">
                <a:solidFill>
                  <a:srgbClr val="333333"/>
                </a:solidFill>
                <a:latin typeface="Calibri"/>
              </a:rPr>
              <a:t> Wait for slow starts (up to 5 min)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AKS Monitoring: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Azure Monitor add-on enabled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Ingress:</a:t>
            </a:r>
            <a:r>
              <a:rPr sz="1300" b="0">
                <a:solidFill>
                  <a:srgbClr val="333333"/>
                </a:solidFill>
                <a:latin typeface="Calibri"/>
              </a:rPr>
              <a:t> Rate limiting at 50 req/s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Alerts:</a:t>
            </a:r>
            <a:r>
              <a:rPr sz="1300" b="0">
                <a:solidFill>
                  <a:srgbClr val="333333"/>
                </a:solidFill>
                <a:latin typeface="Calibri"/>
              </a:rPr>
              <a:t> Set up for pod restarts and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Timeline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EECF9"/>
                </a:solidFill>
                <a:latin typeface="Calibri"/>
              </a:defRPr>
            </a:pPr>
            <a:r>
              <a:t>Proposed execution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338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50292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1: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1 - 2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Provision Azure resources (RG, ACR, AKS, PostgreSQL)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AKS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2: Data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Export, transfer, and restore PostgreSQL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Verified database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3: Containerize &amp;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2 - 3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images, push to ACR, deploy K8s manifests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application on 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4: Verify &amp; Optimize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1 - 2 days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checks, performance testing, monitoring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Production-ready 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DNS Cutover &amp; 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Switch DNS, decommission VMs, final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Migration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Calibri"/>
              </a:defRPr>
            </a:pPr>
            <a:r>
              <a:t>Next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Approve migration plan and allocate Azure resources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Prepare application WAR file and static assets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Set up Azure Key Vault for production secrets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Configure DNS and TLS certificates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Schedule migration window with stakeholders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Plan parallel run period before VM decommission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